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3A5F"/>
                </a:solidFill>
              </a:defRPr>
            </a:pPr>
            <a:r>
              <a:t>COVID-19 ICU Admission Prediction</a:t>
            </a:r>
          </a:p>
          <a:p>
            <a:pPr>
              <a:defRPr sz="2200">
                <a:solidFill>
                  <a:srgbClr val="29699B"/>
                </a:solidFill>
              </a:defRPr>
            </a:pPr>
            <a:r>
              <a:t>Machine Learning Mini-Project</a:t>
            </a:r>
          </a:p>
          <a:p>
            <a:pPr>
              <a:defRPr sz="1500">
                <a:solidFill>
                  <a:srgbClr val="646C74"/>
                </a:solidFill>
              </a:defRPr>
            </a:pPr>
            <a:r>
              <a:t>Logistic Regression using baseline clinical, sex and CT scanner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867912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63A5F"/>
                </a:solidFill>
              </a:defRPr>
            </a:pPr>
            <a:r>
              <a:t>81</a:t>
            </a:r>
          </a:p>
          <a:p>
            <a:pPr algn="ctr">
              <a:defRPr sz="1200">
                <a:solidFill>
                  <a:srgbClr val="646C74"/>
                </a:solidFill>
              </a:defRPr>
            </a:pPr>
            <a:r>
              <a:t>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9" y="3867912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63A5F"/>
                </a:solidFill>
              </a:defRPr>
            </a:pPr>
            <a:r>
              <a:t>17</a:t>
            </a:r>
          </a:p>
          <a:p>
            <a:pPr algn="ctr">
              <a:defRPr sz="1200">
                <a:solidFill>
                  <a:srgbClr val="646C74"/>
                </a:solidFill>
              </a:defRPr>
            </a:pPr>
            <a:r>
              <a:t>Test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867912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63A5F"/>
                </a:solidFill>
              </a:defRPr>
            </a:pPr>
            <a:r>
              <a:t>88.24%</a:t>
            </a:r>
          </a:p>
          <a:p>
            <a:pPr algn="ctr">
              <a:defRPr sz="1200">
                <a:solidFill>
                  <a:srgbClr val="646C74"/>
                </a:solidFill>
              </a:defRPr>
            </a:pPr>
            <a: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3703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3867912"/>
            <a:ext cx="2148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63A5F"/>
                </a:solidFill>
              </a:defRPr>
            </a:pPr>
            <a:r>
              <a:t>0.993</a:t>
            </a:r>
          </a:p>
          <a:p>
            <a:pPr algn="ctr">
              <a:defRPr sz="1200">
                <a:solidFill>
                  <a:srgbClr val="646C74"/>
                </a:solidFill>
              </a:defRPr>
            </a:pPr>
            <a: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1. Problem Statement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32A30"/>
                </a:solidFill>
              </a:defRPr>
            </a:pPr>
            <a:r>
              <a:t>• Goal: predict whether a COVID-19 patient is likely to require ICU admission.</a:t>
            </a:r>
          </a:p>
          <a:p>
            <a:pPr>
              <a:spcAft>
                <a:spcPts val="900"/>
              </a:spcAft>
              <a:defRPr sz="2000">
                <a:solidFill>
                  <a:srgbClr val="232A30"/>
                </a:solidFill>
              </a:defRPr>
            </a:pPr>
            <a:r>
              <a:t>• Binary target: Non-ICU = 0, ICU = 1.</a:t>
            </a:r>
          </a:p>
          <a:p>
            <a:pPr>
              <a:spcAft>
                <a:spcPts val="900"/>
              </a:spcAft>
              <a:defRPr sz="2000">
                <a:solidFill>
                  <a:srgbClr val="232A30"/>
                </a:solidFill>
              </a:defRPr>
            </a:pPr>
            <a:r>
              <a:t>• Use baseline information available before the outcome as model inputs.</a:t>
            </a:r>
          </a:p>
          <a:p>
            <a:pPr>
              <a:spcAft>
                <a:spcPts val="900"/>
              </a:spcAft>
              <a:defRPr sz="2000">
                <a:solidFill>
                  <a:srgbClr val="232A30"/>
                </a:solidFill>
              </a:defRPr>
            </a:pPr>
            <a:r>
              <a:t>• Demonstrate a complete supervised-learning workflow from data preparation to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17320"/>
            <a:ext cx="3474720" cy="356616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737360"/>
            <a:ext cx="28346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A5F"/>
                </a:solidFill>
              </a:defRPr>
            </a:pPr>
            <a:r>
              <a:t>Why ICU prediction?</a:t>
            </a:r>
          </a:p>
          <a:p>
            <a:pPr>
              <a:spcBef>
                <a:spcPts val="1200"/>
              </a:spcBef>
              <a:defRPr sz="1700">
                <a:solidFill>
                  <a:srgbClr val="232A30"/>
                </a:solidFill>
              </a:defRPr>
            </a:pPr>
            <a:r>
              <a:t>• Early risk identification</a:t>
            </a:r>
          </a:p>
          <a:p>
            <a:pPr>
              <a:spcBef>
                <a:spcPts val="1200"/>
              </a:spcBef>
              <a:defRPr sz="1700">
                <a:solidFill>
                  <a:srgbClr val="232A30"/>
                </a:solidFill>
              </a:defRPr>
            </a:pPr>
            <a:r>
              <a:t>• Patient triage support</a:t>
            </a:r>
          </a:p>
          <a:p>
            <a:pPr>
              <a:spcBef>
                <a:spcPts val="1200"/>
              </a:spcBef>
              <a:defRPr sz="1700">
                <a:solidFill>
                  <a:srgbClr val="232A30"/>
                </a:solidFill>
              </a:defRPr>
            </a:pPr>
            <a:r>
              <a:t>• Resource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2.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2377440" cy="54864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41732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0"/>
                </a:solidFill>
              </a:defRPr>
            </a:pPr>
            <a:r>
              <a:t>81 patient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75688"/>
            <a:ext cx="2377440" cy="54864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854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67128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0"/>
                </a:solidFill>
              </a:defRPr>
            </a:pPr>
            <a:r>
              <a:t>7 original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25496"/>
            <a:ext cx="2377440" cy="54864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3522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16936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0"/>
                </a:solidFill>
              </a:defRPr>
            </a:pPr>
            <a:r>
              <a:t>Intensive care unit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75304"/>
            <a:ext cx="2377440" cy="54864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Class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666744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0"/>
                </a:solidFill>
              </a:defRPr>
            </a:pPr>
            <a:r>
              <a:t>48 Non-ICU • 33 ICU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25112"/>
            <a:ext cx="2377440" cy="548640"/>
          </a:xfrm>
          <a:prstGeom prst="round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Model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416551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0"/>
                </a:solidFill>
              </a:defRPr>
            </a:pPr>
            <a:r>
              <a:t>Baseline clinical score • Sex • Baseline 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C74"/>
                </a:solidFill>
              </a:defRPr>
            </a:pPr>
            <a:r>
              <a:t>Note: The notebook explores follow-up fields, but the final model uses only the three baseline predictors above.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3. Methodology /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078992" y="1508760"/>
            <a:ext cx="594360" cy="594360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16276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Load &amp; inspect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6916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A30"/>
                </a:solidFill>
              </a:defRPr>
            </a:pPr>
            <a:r>
              <a:t>81 × 7 dataset</a:t>
            </a:r>
          </a:p>
        </p:txBody>
      </p:sp>
      <p:sp>
        <p:nvSpPr>
          <p:cNvPr id="8" name="Chevron 7"/>
          <p:cNvSpPr/>
          <p:nvPr/>
        </p:nvSpPr>
        <p:spPr>
          <a:xfrm>
            <a:off x="2130552" y="1682496"/>
            <a:ext cx="320040" cy="274320"/>
          </a:xfrm>
          <a:prstGeom prst="chevron">
            <a:avLst/>
          </a:prstGeom>
          <a:solidFill>
            <a:srgbClr val="29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0" y="1508760"/>
            <a:ext cx="594360" cy="594360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5" y="16276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Encode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880360"/>
            <a:ext cx="16916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A30"/>
                </a:solidFill>
              </a:defRPr>
            </a:pPr>
            <a:r>
              <a:t>NO → 0, YES → 1</a:t>
            </a:r>
          </a:p>
        </p:txBody>
      </p:sp>
      <p:sp>
        <p:nvSpPr>
          <p:cNvPr id="13" name="Chevron 12"/>
          <p:cNvSpPr/>
          <p:nvPr/>
        </p:nvSpPr>
        <p:spPr>
          <a:xfrm>
            <a:off x="4069080" y="1682496"/>
            <a:ext cx="320040" cy="274320"/>
          </a:xfrm>
          <a:prstGeom prst="chevron">
            <a:avLst/>
          </a:prstGeom>
          <a:solidFill>
            <a:srgbClr val="29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56048" y="1508760"/>
            <a:ext cx="594360" cy="594360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16276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Prepare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880360"/>
            <a:ext cx="16916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A30"/>
                </a:solidFill>
              </a:defRPr>
            </a:pPr>
            <a:r>
              <a:t>One-hot encode Sex &amp; scanner</a:t>
            </a:r>
          </a:p>
        </p:txBody>
      </p:sp>
      <p:sp>
        <p:nvSpPr>
          <p:cNvPr id="18" name="Chevron 17"/>
          <p:cNvSpPr/>
          <p:nvPr/>
        </p:nvSpPr>
        <p:spPr>
          <a:xfrm>
            <a:off x="6007608" y="1682496"/>
            <a:ext cx="320040" cy="274320"/>
          </a:xfrm>
          <a:prstGeom prst="chevron">
            <a:avLst/>
          </a:prstGeom>
          <a:solidFill>
            <a:srgbClr val="29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94576" y="1508760"/>
            <a:ext cx="594360" cy="594360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16276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Split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880360"/>
            <a:ext cx="16916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A30"/>
                </a:solidFill>
              </a:defRPr>
            </a:pPr>
            <a:r>
              <a:t>80% train / 20% test</a:t>
            </a:r>
          </a:p>
        </p:txBody>
      </p:sp>
      <p:sp>
        <p:nvSpPr>
          <p:cNvPr id="23" name="Chevron 22"/>
          <p:cNvSpPr/>
          <p:nvPr/>
        </p:nvSpPr>
        <p:spPr>
          <a:xfrm>
            <a:off x="7946136" y="1682496"/>
            <a:ext cx="320040" cy="274320"/>
          </a:xfrm>
          <a:prstGeom prst="chevron">
            <a:avLst/>
          </a:prstGeom>
          <a:solidFill>
            <a:srgbClr val="29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33104" y="1508760"/>
            <a:ext cx="594360" cy="594360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6276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880360"/>
            <a:ext cx="16916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A30"/>
                </a:solidFill>
              </a:defRPr>
            </a:pPr>
            <a:r>
              <a:t>Logistic Regression</a:t>
            </a:r>
          </a:p>
        </p:txBody>
      </p:sp>
      <p:sp>
        <p:nvSpPr>
          <p:cNvPr id="28" name="Chevron 27"/>
          <p:cNvSpPr/>
          <p:nvPr/>
        </p:nvSpPr>
        <p:spPr>
          <a:xfrm>
            <a:off x="9884664" y="1682496"/>
            <a:ext cx="320040" cy="274320"/>
          </a:xfrm>
          <a:prstGeom prst="chevron">
            <a:avLst/>
          </a:prstGeom>
          <a:solidFill>
            <a:srgbClr val="29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71632" y="1508760"/>
            <a:ext cx="594360" cy="594360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53928" y="16276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3A5F"/>
                </a:solidFill>
              </a:defRPr>
            </a:pPr>
            <a: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880360"/>
            <a:ext cx="16916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32A30"/>
                </a:solidFill>
              </a:defRPr>
            </a:pPr>
            <a:r>
              <a:t>Accuracy + CM + ROC-AUC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4. Model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669280" cy="4480560"/>
          </a:xfrm>
          <a:prstGeom prst="roundRect">
            <a:avLst/>
          </a:prstGeom>
          <a:solidFill>
            <a:srgbClr val="F5F7F9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212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X = pd.get_dummies(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    df[["Baseline clinical score",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        "Sex", "Baseline scanner"]],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    drop_first=True)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X_train, X_test, y_train, y_test =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train_test_split(..., test_size=0.2,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stratify=y, random_state=42)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model = LogisticRegression(random_state=42)</a:t>
            </a:r>
          </a:p>
          <a:p>
            <a:pPr>
              <a:defRPr sz="1250">
                <a:solidFill>
                  <a:srgbClr val="232A30"/>
                </a:solidFill>
                <a:latin typeface="Consolas"/>
              </a:defRPr>
            </a:pPr>
            <a:r>
              <a:t>model.fit(X_train, y_train)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50876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64 training samples and 17 testing samples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Stratification preserves the ICU/non-ICU class ratio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Logistic Regression outputs both class labels and ICU probabilities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ROC curve uses predicted ICU probability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5. Confusion Matrix Results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309360" cy="539386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371600"/>
            <a:ext cx="196596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51192" y="1463040"/>
            <a:ext cx="18105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10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True Negative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371600"/>
            <a:ext cx="196596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1463040"/>
            <a:ext cx="18105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False Positive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2514600"/>
            <a:ext cx="196596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2606040"/>
            <a:ext cx="18105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False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514600"/>
            <a:ext cx="196596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1472" y="2606040"/>
            <a:ext cx="18105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True Positive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657600"/>
            <a:ext cx="196596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3749039"/>
            <a:ext cx="18105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0.71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ICU 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196596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3749039"/>
            <a:ext cx="18105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0.83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ICU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074920"/>
            <a:ext cx="4114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t>Key point: no false positives, but 2 ICU cases were missed.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6. ROC Curve &amp; Performance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675120" cy="53377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417320"/>
            <a:ext cx="320040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527048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88.24%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514600"/>
            <a:ext cx="320040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624328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0.9929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ROC-AUC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611880"/>
            <a:ext cx="320040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721608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1.00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ICU 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709159"/>
            <a:ext cx="3200400" cy="86868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818888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3A5F"/>
                </a:solidFill>
              </a:defRPr>
            </a:pPr>
            <a:r>
              <a:t>0.71</a:t>
            </a:r>
          </a:p>
          <a:p>
            <a:pPr algn="ctr">
              <a:defRPr sz="1000">
                <a:solidFill>
                  <a:srgbClr val="646C74"/>
                </a:solidFill>
              </a:defRPr>
            </a:pPr>
            <a:r>
              <a:t>ICU 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7. Conclusion,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0"/>
                </a:solidFill>
              </a:defRPr>
            </a:pPr>
            <a:r>
              <a:t>• The end-to-end ICU prediction pipeline works successfully on the supplied 81-record dataset.</a:t>
            </a:r>
          </a:p>
          <a:p>
            <a:pPr>
              <a:spcAft>
                <a:spcPts val="900"/>
              </a:spcAft>
              <a:defRPr sz="1700">
                <a:solidFill>
                  <a:srgbClr val="232A30"/>
                </a:solidFill>
              </a:defRPr>
            </a:pPr>
            <a:r>
              <a:t>• The model achieved 88.24% test accuracy and 0.9929 ROC-AUC.</a:t>
            </a:r>
          </a:p>
          <a:p>
            <a:pPr>
              <a:spcAft>
                <a:spcPts val="900"/>
              </a:spcAft>
              <a:defRPr sz="1700">
                <a:solidFill>
                  <a:srgbClr val="232A30"/>
                </a:solidFill>
              </a:defRPr>
            </a:pPr>
            <a:r>
              <a:t>• The strongest fitted coefficient is for Baseline clinical score (+1.2306).</a:t>
            </a:r>
          </a:p>
          <a:p>
            <a:pPr>
              <a:spcAft>
                <a:spcPts val="900"/>
              </a:spcAft>
              <a:defRPr sz="1700">
                <a:solidFill>
                  <a:srgbClr val="232A30"/>
                </a:solidFill>
              </a:defRPr>
            </a:pPr>
            <a:r>
              <a:t>• Because the dataset and test split are small, the results should not be treated as clinical evidence.</a:t>
            </a:r>
          </a:p>
          <a:p>
            <a:pPr>
              <a:spcAft>
                <a:spcPts val="900"/>
              </a:spcAft>
              <a:defRPr sz="1700">
                <a:solidFill>
                  <a:srgbClr val="232A30"/>
                </a:solidFill>
              </a:defRPr>
            </a:pPr>
            <a:r>
              <a:t>• The current implementation does not directly use extracted radiomics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325880"/>
            <a:ext cx="4663440" cy="4434840"/>
          </a:xfrm>
          <a:prstGeom prst="roundRect">
            <a:avLst/>
          </a:prstGeom>
          <a:solidFill>
            <a:srgbClr val="EBF2F8"/>
          </a:solidFill>
          <a:ln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60020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63A5F"/>
                </a:solidFill>
              </a:defRPr>
            </a:pPr>
            <a:r>
              <a:t>Future scope</a:t>
            </a:r>
          </a:p>
          <a:p>
            <a:pPr>
              <a:spcBef>
                <a:spcPts val="1200"/>
              </a:spcBef>
              <a:defRPr sz="1500">
                <a:solidFill>
                  <a:srgbClr val="232A30"/>
                </a:solidFill>
              </a:defRPr>
            </a:pPr>
            <a:r>
              <a:t>• Add radiomics and laboratory features</a:t>
            </a:r>
          </a:p>
          <a:p>
            <a:pPr>
              <a:spcBef>
                <a:spcPts val="1200"/>
              </a:spcBef>
              <a:defRPr sz="1500">
                <a:solidFill>
                  <a:srgbClr val="232A30"/>
                </a:solidFill>
              </a:defRPr>
            </a:pPr>
            <a:r>
              <a:t>• Compare Logistic Regression, RF, SVM and boosting models</a:t>
            </a:r>
          </a:p>
          <a:p>
            <a:pPr>
              <a:spcBef>
                <a:spcPts val="1200"/>
              </a:spcBef>
              <a:defRPr sz="1500">
                <a:solidFill>
                  <a:srgbClr val="232A30"/>
                </a:solidFill>
              </a:defRPr>
            </a:pPr>
            <a:r>
              <a:t>• Use cross-validation and independent validation</a:t>
            </a:r>
          </a:p>
          <a:p>
            <a:pPr>
              <a:spcBef>
                <a:spcPts val="1200"/>
              </a:spcBef>
              <a:defRPr sz="1500">
                <a:solidFill>
                  <a:srgbClr val="232A30"/>
                </a:solidFill>
              </a:defRPr>
            </a:pPr>
            <a:r>
              <a:t>• Study class imbalance and threshold selection</a:t>
            </a:r>
          </a:p>
          <a:p>
            <a:pPr>
              <a:spcBef>
                <a:spcPts val="1200"/>
              </a:spcBef>
              <a:defRPr sz="1500">
                <a:solidFill>
                  <a:srgbClr val="232A30"/>
                </a:solidFill>
              </a:defRPr>
            </a:pPr>
            <a:r>
              <a:t>• Improve ICU recall for safer 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8. Live 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Load the dataset → show shape and columns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Map ICU labels → show 48 Non-ICU / 33 ICU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Create encoded feature matrix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Run 80:20 stratified train/test split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Train Logistic Regression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Show accuracy + classification report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Display confusion matrix and ROC curve</a:t>
            </a:r>
          </a:p>
          <a:p>
            <a:pPr>
              <a:spcAft>
                <a:spcPts val="900"/>
              </a:spcAft>
              <a:defRPr sz="1800">
                <a:solidFill>
                  <a:srgbClr val="232A30"/>
                </a:solidFill>
              </a:defRPr>
            </a:pPr>
            <a:r>
              <a:t>• Explain AUC = 0.9929 and the two missed ICU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3854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UE24CS352A • Machine Learning Mini-Project •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